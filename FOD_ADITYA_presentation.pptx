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 spc="0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4" name="Google Shape;24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3" name="Google Shape;43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1" name="Google Shape;71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2" name="Google Shape;92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 spc="0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2148850" y="1051857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704020202020204"/>
              <a:buNone/>
            </a:pPr>
            <a:r>
              <a:rPr sz="1500" b="1">
                <a:latin typeface="Calibri"/>
              </a:rPr>
              <a:t>FIFA WORLD CUP 2026</a:t>
            </a: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2148846" y="1406120"/>
            <a:ext cx="7863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 panose="020B0704020202020204"/>
              <a:buNone/>
            </a:pPr>
            <a:r>
              <a:rPr sz="5000" b="1">
                <a:latin typeface="Cambria"/>
              </a:rPr>
              <a:t>Assists Analysis</a:t>
            </a: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2148850" y="2549103"/>
            <a:ext cx="78639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sz="1800" b="0">
                <a:latin typeface="Calibri"/>
              </a:rPr>
              <a:t>Do midfielders create more assists per 90 minutes than forwards?</a:t>
            </a: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2180400" y="3998868"/>
            <a:ext cx="7863900" cy="8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704020202020204"/>
              <a:buNone/>
            </a:pPr>
            <a:r>
              <a:rPr sz="1450" b="1">
                <a:latin typeface="Calibri"/>
              </a:rPr>
              <a:t>GROUP PROJECT – OBJECTIVE 1
HIT140 – Foundation of Data Science</a:t>
            </a:r>
            <a:endParaRPr sz="1450" b="1" i="0" u="none" strike="noStrike" cap="none">
              <a:solidFill>
                <a:srgbClr val="1827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2148850" y="5006745"/>
            <a:ext cx="78639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704020202020204"/>
              <a:buNone/>
            </a:pPr>
            <a:r>
              <a:rPr sz="1200" b="0">
                <a:latin typeface="Calibri"/>
              </a:rPr>
              <a:t>A</a:t>
            </a:r>
            <a:r>
              <a:rPr lang="en-US" sz="1200" b="0">
                <a:latin typeface="Calibri"/>
              </a:rPr>
              <a:t>ditya Banstola(S403120)</a:t>
            </a:r>
            <a:endParaRPr lang="en-US" sz="1200" b="0" i="0" u="none" strike="noStrike" cap="none">
              <a:solidFill>
                <a:schemeClr val="dk1"/>
              </a:solidFill>
              <a:latin typeface="Calibri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/>
        </p:nvSpPr>
        <p:spPr>
          <a:xfrm>
            <a:off x="-350" y="244925"/>
            <a:ext cx="121920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3000"/>
              <a:buFont typeface="Cambria"/>
              <a:buNone/>
            </a:pPr>
            <a:r>
              <a:rPr sz="2400" b="1">
                <a:latin typeface="Cambria"/>
              </a:rPr>
              <a:t>Assists Analysis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0" y="786384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300"/>
              <a:buFont typeface="Calibri"/>
              <a:buNone/>
            </a:pPr>
            <a:r>
              <a:rPr sz="1200" b="0">
                <a:latin typeface="Calibri"/>
              </a:rPr>
              <a:t>FIFA World Cup 2026  •  Player assists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822960" y="1234440"/>
            <a:ext cx="1054303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2300"/>
              <a:buFont typeface="Cambria"/>
              <a:buNone/>
            </a:pPr>
            <a:r>
              <a:rPr sz="1800" b="0">
                <a:latin typeface="Calibri"/>
              </a:rPr>
              <a:t>Do midfielders create more assists per 90 minutes than forwards?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2395728"/>
            <a:ext cx="351525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804672" y="2633472"/>
            <a:ext cx="300319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WHY THIS QUESTION?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804672" y="3054096"/>
            <a:ext cx="3003194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3038"/>
              </a:buClr>
              <a:buSzPts val="1350"/>
              <a:buFont typeface="Calibri"/>
              <a:buNone/>
            </a:pPr>
            <a:r>
              <a:rPr sz="1350" b="0">
                <a:latin typeface="Calibri"/>
              </a:rPr>
              <a:t>An assist reflects how directly a player sets up a goal. Because players don't all log the same minutes, converting this to a per-90-minute rate puts midfielders and forwards on equal footing.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338218" y="2395728"/>
            <a:ext cx="351525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4594250" y="2633472"/>
            <a:ext cx="300319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4594250" y="3054096"/>
            <a:ext cx="3003194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3038"/>
              </a:buClr>
              <a:buSzPts val="1350"/>
              <a:buFont typeface="Calibri"/>
              <a:buChar char="•"/>
            </a:pPr>
            <a:r>
              <a:rPr sz="1350" b="0">
                <a:latin typeface="Calibri"/>
              </a:rPr>
              <a:t>Player data sourced from FBref
Comparing midfielders (MF) and forwards (FW)
Only players with at least one full 90-minute equivalent qualified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127797" y="2395728"/>
            <a:ext cx="351525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8383829" y="2633472"/>
            <a:ext cx="300319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ANALYTIC APPROACH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8383829" y="3054096"/>
            <a:ext cx="3003194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3038"/>
              </a:buClr>
              <a:buSzPts val="1350"/>
              <a:buFont typeface="Calibri"/>
              <a:buChar char="•"/>
            </a:pPr>
            <a:r>
              <a:rPr sz="1350" b="0">
                <a:latin typeface="Calibri"/>
              </a:rPr>
              <a:t>Players under one full 90 were dropped
A stratified sample of 40 MF and 40 FW was drawn
Groups compared with a Welch two-sample t-test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400"/>
              <a:buFont typeface="Calibri"/>
              <a:buNone/>
            </a:pPr>
            <a:r>
              <a:rPr sz="1400" b="1">
                <a:latin typeface="Calibri"/>
              </a:rPr>
              <a:t>Metric used:  Assists  ÷  90-minute equivalents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76F7A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/>
        </p:nvSpPr>
        <p:spPr>
          <a:xfrm>
            <a:off x="48975" y="254725"/>
            <a:ext cx="121428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3000"/>
              <a:buFont typeface="Cambria"/>
              <a:buNone/>
            </a:pPr>
            <a:r>
              <a:rPr sz="2400" b="1">
                <a:latin typeface="Cambria"/>
              </a:rPr>
              <a:t>Building a Balanced Sample from Eligible Players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48640" y="1417320"/>
            <a:ext cx="24855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621792" y="1581912"/>
            <a:ext cx="2339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2500"/>
              <a:buFont typeface="Cambria"/>
              <a:buNone/>
            </a:pPr>
            <a:r>
              <a:rPr sz="2500" b="1">
                <a:latin typeface="Cambria"/>
              </a:rPr>
              <a:t>MF + FW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640080" y="2194560"/>
            <a:ext cx="230268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150"/>
              <a:buFont typeface="Calibri"/>
              <a:buNone/>
            </a:pPr>
            <a:r>
              <a:rPr sz="1250" b="0">
                <a:latin typeface="Calibri"/>
              </a:rPr>
              <a:t>eligible positions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3034208" y="1417320"/>
            <a:ext cx="38404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2000"/>
              <a:buFont typeface="Calibri"/>
              <a:buNone/>
            </a:pPr>
            <a:r>
              <a:rPr sz="2500" b="1">
                <a:latin typeface="Cambria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418256" y="1417320"/>
            <a:ext cx="24855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3491408" y="1581912"/>
            <a:ext cx="2339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2500"/>
              <a:buFont typeface="Cambria"/>
              <a:buNone/>
            </a:pPr>
            <a:r>
              <a:rPr sz="2500" b="1">
                <a:latin typeface="Cambria"/>
              </a:rPr>
              <a:t>40 / 40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3509696" y="2194560"/>
            <a:ext cx="230268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150"/>
              <a:buFont typeface="Calibri"/>
              <a:buNone/>
            </a:pPr>
            <a:r>
              <a:rPr sz="1250" b="0">
                <a:latin typeface="Calibri"/>
              </a:rPr>
              <a:t>midfielders / forwards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5903824" y="1417320"/>
            <a:ext cx="38404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2000"/>
              <a:buFont typeface="Calibri"/>
              <a:buNone/>
            </a:pPr>
            <a:r>
              <a:rPr sz="2500" b="1">
                <a:latin typeface="Cambria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287872" y="1417320"/>
            <a:ext cx="24855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6361024" y="1581912"/>
            <a:ext cx="2339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2500"/>
              <a:buFont typeface="Cambria"/>
              <a:buNone/>
            </a:pPr>
            <a:r>
              <a:rPr sz="2500" b="1">
                <a:latin typeface="Cambria"/>
              </a:rPr>
              <a:t>80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6379312" y="2194560"/>
            <a:ext cx="230268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150"/>
              <a:buFont typeface="Calibri"/>
              <a:buNone/>
            </a:pPr>
            <a:r>
              <a:rPr sz="1250" b="0">
                <a:latin typeface="Calibri"/>
              </a:rPr>
              <a:t>players in final sample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8773439" y="1417320"/>
            <a:ext cx="38404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2000"/>
              <a:buFont typeface="Calibri"/>
              <a:buNone/>
            </a:pPr>
            <a:r>
              <a:rPr sz="2500" b="1">
                <a:latin typeface="Cambria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157487" y="1417320"/>
            <a:ext cx="24855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9230639" y="1581912"/>
            <a:ext cx="2339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2500"/>
              <a:buFont typeface="Cambria"/>
              <a:buNone/>
            </a:pPr>
            <a:r>
              <a:rPr sz="2500" b="1">
                <a:latin typeface="Cambria"/>
              </a:rPr>
              <a:t>1:1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9248927" y="2194560"/>
            <a:ext cx="230268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150"/>
              <a:buFont typeface="Calibri"/>
              <a:buNone/>
            </a:pPr>
            <a:r>
              <a:rPr sz="1250" b="0">
                <a:latin typeface="Calibri"/>
              </a:rPr>
              <a:t>balanced position split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3200400"/>
            <a:ext cx="536432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822960" y="3438144"/>
            <a:ext cx="481568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DATA PREPARATION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822960" y="3858768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3038"/>
              </a:buClr>
              <a:buSzPts val="1400"/>
              <a:buFont typeface="Calibri"/>
              <a:buChar char="•"/>
            </a:pPr>
            <a:r>
              <a:rPr sz="1300" b="0">
                <a:latin typeface="Calibri"/>
              </a:rPr>
              <a:t>Non-player rows were removed
Midfielders (MF) and forwards (FW) were kept
Players under one 90-minute equivalent were dropped
Assists per 90 minutes were then calculated for each player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278728" y="3200400"/>
            <a:ext cx="536432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6553048" y="3438144"/>
            <a:ext cx="481568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SAMPLING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6553048" y="3858768"/>
            <a:ext cx="48156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3038"/>
              </a:buClr>
              <a:buSzPts val="1400"/>
              <a:buFont typeface="Calibri"/>
              <a:buNone/>
            </a:pPr>
            <a:r>
              <a:rPr sz="1300" b="0">
                <a:latin typeface="Calibri"/>
              </a:rPr>
              <a:t>Sampling was stratified by position
40 midfielders and 40 forwards, 80 players in total
Random seed set to 42 for reproducibility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76F7A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/>
        </p:nvSpPr>
        <p:spPr>
          <a:xfrm>
            <a:off x="50" y="256150"/>
            <a:ext cx="12191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3000"/>
              <a:buFont typeface="Cambria"/>
              <a:buNone/>
            </a:pPr>
            <a:r>
              <a:rPr sz="2400" b="1">
                <a:latin typeface="Cambria"/>
              </a:rPr>
              <a:t>So, What Did the Data Show?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0" y="786384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300"/>
              <a:buFont typeface="Calibri"/>
              <a:buNone/>
            </a:pPr>
            <a:r>
              <a:rPr sz="1200" b="0">
                <a:latin typeface="Calibri"/>
              </a:rPr>
              <a:t>Assists per 90 minutes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989320" y="1417320"/>
            <a:ext cx="565099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6263640" y="1600200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MIDFIELDERS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6263640" y="18745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2700"/>
              <a:buFont typeface="Cambria"/>
              <a:buNone/>
            </a:pPr>
            <a:r>
              <a:rPr sz="2700" b="1">
                <a:latin typeface="Cambria"/>
              </a:rPr>
              <a:t>0.133 Ast/90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8915400" y="1874520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250"/>
              <a:buFont typeface="Calibri"/>
              <a:buNone/>
            </a:pPr>
            <a:r>
              <a:rPr sz="1250" b="0">
                <a:latin typeface="Calibri"/>
              </a:rPr>
              <a:t>95% CI: 0.055–0.212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989320" y="2724912"/>
            <a:ext cx="565099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6263640" y="2907792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FORWARDS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6263640" y="3182112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2700"/>
              <a:buFont typeface="Cambria"/>
              <a:buNone/>
            </a:pPr>
            <a:r>
              <a:rPr sz="2700" b="1">
                <a:latin typeface="Cambria"/>
              </a:rPr>
              <a:t>0.088 Ast/90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8915400" y="3182112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250"/>
              <a:buFont typeface="Calibri"/>
              <a:buNone/>
            </a:pPr>
            <a:r>
              <a:rPr sz="1250" b="0">
                <a:latin typeface="Calibri"/>
              </a:rPr>
              <a:t>95% CI: 0.029–0.147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989320" y="4032504"/>
            <a:ext cx="5650992" cy="1728216"/>
          </a:xfrm>
          <a:prstGeom prst="roundRect">
            <a:avLst>
              <a:gd name="adj" fmla="val 6349"/>
            </a:avLst>
          </a:prstGeom>
          <a:solidFill>
            <a:srgbClr val="E7EDF6"/>
          </a:solidFill>
          <a:ln w="12700" cap="flat" cmpd="sng">
            <a:solidFill>
              <a:srgbClr val="E7ED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6263640" y="4251960"/>
            <a:ext cx="5102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KEY RESULT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6263640" y="4599432"/>
            <a:ext cx="5102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1800"/>
              <a:buFont typeface="Cambria"/>
              <a:buNone/>
            </a:pPr>
            <a:r>
              <a:rPr sz="1700" b="1">
                <a:latin typeface="Cambria"/>
              </a:rPr>
              <a:t>On average, midfielders came out ahead.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6263640" y="5239512"/>
            <a:ext cx="5102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250"/>
              <a:buFont typeface="Calibri"/>
              <a:buNone/>
            </a:pPr>
            <a:r>
              <a:rPr sz="1250" b="0">
                <a:latin typeface="Calibri"/>
              </a:rPr>
              <a:t>That said, both groups still had a median of 0 assists per 90.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10983318" y="6510528"/>
            <a:ext cx="667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76F7A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Picture 87" descr="assists_boxpl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1417325"/>
            <a:ext cx="568452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-350" y="264525"/>
            <a:ext cx="121920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3000"/>
              <a:buFont typeface="Cambria"/>
              <a:buNone/>
            </a:pPr>
            <a:r>
              <a:rPr sz="2400" b="1">
                <a:latin typeface="Cambria"/>
              </a:rPr>
              <a:t>Statistical Evidence &amp; Conclusion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48640" y="1417320"/>
            <a:ext cx="536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822960" y="1636776"/>
            <a:ext cx="48156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WELCH TWO-SAMPLE t-TEST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822960" y="1984248"/>
            <a:ext cx="481568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2200"/>
              <a:buFont typeface="Cambria"/>
              <a:buNone/>
            </a:pPr>
            <a:r>
              <a:rPr sz="2200" b="1">
                <a:latin typeface="Cambria"/>
              </a:rPr>
              <a:t>t = 0.925
p = 0.3581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822960" y="2962656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250"/>
              <a:buFont typeface="Calibri"/>
              <a:buNone/>
            </a:pPr>
            <a:r>
              <a:rPr sz="1250" b="0">
                <a:latin typeface="Calibri"/>
              </a:rPr>
              <a:t>α = 0.05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3444088" y="296265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50"/>
              <a:buFont typeface="Calibri"/>
              <a:buNone/>
            </a:pPr>
            <a:r>
              <a:rPr sz="1250" b="1">
                <a:latin typeface="Calibri"/>
              </a:rPr>
              <a:t>p &gt; 0.05 → fail to reject H₀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278728" y="1417320"/>
            <a:ext cx="5364328" cy="1965960"/>
          </a:xfrm>
          <a:prstGeom prst="roundRect">
            <a:avLst>
              <a:gd name="adj" fmla="val 5581"/>
            </a:avLst>
          </a:prstGeom>
          <a:solidFill>
            <a:srgbClr val="E7EDF6"/>
          </a:solidFill>
          <a:ln w="12700" cap="flat" cmpd="sng">
            <a:solidFill>
              <a:srgbClr val="E7ED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6553048" y="1636776"/>
            <a:ext cx="48156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CONCLUSION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6553048" y="1965960"/>
            <a:ext cx="481568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273A"/>
              </a:buClr>
              <a:buSzPts val="1450"/>
              <a:buFont typeface="Calibri"/>
              <a:buNone/>
            </a:pPr>
            <a:r>
              <a:rPr sz="1450" b="1">
                <a:latin typeface="Calibri"/>
              </a:rPr>
              <a:t>Midfielders showed a higher average, but that gap wasn't statistically significant.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6553048" y="2926080"/>
            <a:ext cx="48156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250"/>
              <a:buFont typeface="Calibri"/>
              <a:buNone/>
            </a:pPr>
            <a:r>
              <a:rPr sz="1250" b="0">
                <a:latin typeface="Calibri"/>
              </a:rPr>
              <a:t>There isn't enough evidence here to say midfielders truly outperform forwards on assists per 90.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8640" y="370332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 cap="flat" cmpd="sng">
            <a:solidFill>
              <a:srgbClr val="E0E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822960" y="3904488"/>
            <a:ext cx="1054577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89"/>
              </a:buClr>
              <a:buSzPts val="1200"/>
              <a:buFont typeface="Calibri"/>
              <a:buNone/>
            </a:pPr>
            <a:r>
              <a:rPr sz="1200" b="1">
                <a:latin typeface="Calibri"/>
              </a:rPr>
              <a:t>LIMITATIONS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822960" y="4233672"/>
            <a:ext cx="105457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3038"/>
              </a:buClr>
              <a:buSzPts val="1300"/>
              <a:buFont typeface="Calibri"/>
              <a:buChar char="•"/>
            </a:pPr>
            <a:r>
              <a:rPr sz="1300" b="0">
                <a:latin typeface="Calibri"/>
              </a:rPr>
              <a:t>A large share of zero-assist players skews the rate distribution.
This analysis draws on a sample of 40 players per position, not the full eligible pool.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548640" y="5504688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350"/>
              <a:buFont typeface="Calibri"/>
              <a:buNone/>
            </a:pPr>
            <a:r>
              <a:rPr sz="1350" b="1">
                <a:latin typeface="Calibri"/>
              </a:rPr>
              <a:t>In short: a higher observed rate isn't the same as a statistically confirmed one.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6F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76F7A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2148</Words>
  <Application>WPS Presentation</Application>
  <PresentationFormat/>
  <Paragraphs>114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Helvetica Neue</vt:lpstr>
      <vt:lpstr>Cambria</vt:lpstr>
      <vt:lpstr>Thonburi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Aditya Banstola</cp:lastModifiedBy>
  <cp:revision>2</cp:revision>
  <dcterms:created xsi:type="dcterms:W3CDTF">2026-09-09T05:41:09Z</dcterms:created>
  <dcterms:modified xsi:type="dcterms:W3CDTF">2026-09-09T05:41:09Z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F75700D5F04512D3F6F0A06A159164C1_42</vt:lpwstr>
  </property>
  <property fmtid="{D5CDD505-2E9C-101B-9397-08002B2CF9AE}" pid="3" name="KSOProductBuildVer">
    <vt:lpwstr>1033-12.1.26050.26050</vt:lpwstr>
  </property>
</Properties>
</file>